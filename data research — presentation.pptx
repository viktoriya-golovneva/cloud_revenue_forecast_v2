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8755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15A9B"/>
                </a:solidFill>
              </a:rPr>
              <a:t>NimbusCompute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144475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827"/>
                </a:solidFill>
              </a:rPr>
              <a:t>Data Research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21792" y="222199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2"/>
                </a:solidFill>
              </a:rPr>
              <a:t>Exploratory findings that drive the consumption and cash forecast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21792" y="277977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</a:rPr>
              <a:t>Forecast window: June–August 2026   ·   as-of date: 2026-06-06</a:t>
            </a:r>
            <a:endParaRPr lang="en-US" sz="1150" dirty="0"/>
          </a:p>
        </p:txBody>
      </p:sp>
      <p:pic>
        <p:nvPicPr>
          <p:cNvPr id="6" name="Image 0" descr="/mnt/data/04_egress_storage_dyn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985058"/>
            <a:ext cx="4937760" cy="2693324"/>
          </a:xfrm>
          <a:prstGeom prst="rect">
            <a:avLst/>
          </a:prstGeom>
        </p:spPr>
      </p:pic>
      <p:pic>
        <p:nvPicPr>
          <p:cNvPr id="7" name="Image 1" descr="/mnt/data/02_compute_dynam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302" y="3858768"/>
            <a:ext cx="4274820" cy="2331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1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explored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Source tables, data risks, and forecast implications</a:t>
            </a:r>
            <a:endParaRPr lang="en-US" sz="98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325880"/>
          <a:ext cx="10881360" cy="3794760"/>
        </p:xfrm>
        <a:graphic>
          <a:graphicData uri="http://schemas.openxmlformats.org/drawingml/2006/table">
            <a:tbl>
              <a:tblPr/>
              <a:tblGrid>
                <a:gridCol w="2103120"/>
                <a:gridCol w="3474720"/>
                <a:gridCol w="53035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Area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question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Forecast impact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Business events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known events distort historical patterns?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Price, product migration, billing change, sales-policy changes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monthly_usage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is the cleanest measure of customer consumption?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basis for organic consumption forecast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contracts + customers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customers are active and what terms apply?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Discounts, payment terms, churn treatment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CRM pipeline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future deals should be added?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Scenario-specific new consumption and prepayments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invoices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cash is already receivable?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Existing AR and payment timing model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" y="5486400"/>
            <a:ext cx="10881360" cy="585216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5596128"/>
            <a:ext cx="10588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Conclusion: monthly_usage is the most reliable table for consumption; invoices are used for cash timing, not for rebuilding product usage.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2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events that affect the data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These events define how historical patterns should be read</a:t>
            </a:r>
            <a:endParaRPr lang="en-US" sz="98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73968" cy="3703320"/>
        </p:xfrm>
        <a:graphic>
          <a:graphicData uri="http://schemas.openxmlformats.org/drawingml/2006/table">
            <a:tbl>
              <a:tblPr/>
              <a:tblGrid>
                <a:gridCol w="1143000"/>
                <a:gridCol w="2057400"/>
                <a:gridCol w="1874520"/>
                <a:gridCol w="6099048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Jul-2025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pricing_change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compute_standard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Compute list price reduced for new and renewing contracts.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Oct-2025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product_migration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gpu_a100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Legacy GPU SKU migrated to gpu_accelerated in usage telemetry.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Mar-2026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capacity_constraint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gpu_accelerated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Temporary GPU supply constraint delayed some enterprise ramps.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Apr-2026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billing_system_change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Invoice export switched source; Finance flagged duplicate risk.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6309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May-2026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sales_policy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4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Saving-plan packages split into component opportunities for visibility.</a:t>
                      </a:r>
                      <a:endParaRPr lang="en-US" sz="10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5285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15A9B"/>
                </a:solidFill>
              </a:rPr>
              <a:t>Forecast implication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13232" y="5559552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</a:rPr>
              <a:t>• merge legacy and new GPU SKUs for trend analysis</a:t>
            </a:r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</a:rPr>
              <a:t>• treat March 2026 as distorted for GPU growth</a:t>
            </a:r>
            <a:endParaRPr lang="en-US" sz="1180" dirty="0"/>
          </a:p>
          <a:p>
            <a:pPr indent="0" marL="0">
              <a:buNone/>
            </a:pP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11827"/>
                </a:solidFill>
              </a:rPr>
              <a:t>• check CRM opportunities for double-counting after May policy change</a:t>
            </a:r>
            <a:endParaRPr lang="en-US" sz="1180" dirty="0"/>
          </a:p>
        </p:txBody>
      </p:sp>
      <p:sp>
        <p:nvSpPr>
          <p:cNvPr id="7" name="Text 4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3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grows materially; compute remains the backbone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Native units are shown to illustrate volume shape and product mix</a:t>
            </a:r>
            <a:endParaRPr lang="en-US" sz="980" dirty="0"/>
          </a:p>
        </p:txBody>
      </p:sp>
      <p:pic>
        <p:nvPicPr>
          <p:cNvPr id="4" name="Image 0" descr="/mnt/data/02_compute_dyn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70432"/>
            <a:ext cx="5029200" cy="2743200"/>
          </a:xfrm>
          <a:prstGeom prst="rect">
            <a:avLst/>
          </a:prstGeom>
        </p:spPr>
      </p:pic>
      <p:pic>
        <p:nvPicPr>
          <p:cNvPr id="5" name="Image 1" descr="/mnt/data/03_gpu_dynamic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1170432"/>
            <a:ext cx="502920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85800" y="4297680"/>
            <a:ext cx="5166360" cy="658368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32104" y="4407408"/>
            <a:ext cx="4873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Compute shows a smooth upward trend and is the most stable anchor for the forecast.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309360" y="4297680"/>
            <a:ext cx="5257800" cy="658368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55664" y="4407408"/>
            <a:ext cx="49651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GPU accelerates sharply from late 2025, but the jump is recent and concentrated; extrapolate cautiously.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7724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all products grow year over year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seasonality exists but is weak and unstable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recent product mix is more informative than full-history averages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4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 standard: stable upward trend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The largest and most predictable component of current usage</a:t>
            </a:r>
            <a:endParaRPr lang="en-US" sz="980" dirty="0"/>
          </a:p>
        </p:txBody>
      </p:sp>
      <p:pic>
        <p:nvPicPr>
          <p:cNvPr id="4" name="Image 0" descr="/mnt/data/02_compute_dyn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37933"/>
            <a:ext cx="7315200" cy="39901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75320" y="1444752"/>
            <a:ext cx="32918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• compute_standard is the backbone of the active customer base</a:t>
            </a:r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• growth is relatively consistent with no single structural break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• May 2026 is a reasonable anchor for near-term organic forecast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• price change in Jul-2025 is handled through price and contract logic</a:t>
            </a:r>
            <a:endParaRPr lang="en-US" sz="1230" dirty="0"/>
          </a:p>
        </p:txBody>
      </p:sp>
      <p:sp>
        <p:nvSpPr>
          <p:cNvPr id="6" name="Shape 3"/>
          <p:cNvSpPr/>
          <p:nvPr/>
        </p:nvSpPr>
        <p:spPr>
          <a:xfrm>
            <a:off x="8229600" y="5001768"/>
            <a:ext cx="3337560" cy="749808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75904" y="5111496"/>
            <a:ext cx="30449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Forecast treatment: product-level coefficients for most customers; selected large customers forecast separately.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5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GPU: sharp take-off with concentrated drivers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Legacy gpu_a100 and gpu_accelerated are merged for trend analysis</a:t>
            </a:r>
            <a:endParaRPr lang="en-US" sz="980" dirty="0"/>
          </a:p>
        </p:txBody>
      </p:sp>
      <p:pic>
        <p:nvPicPr>
          <p:cNvPr id="4" name="Image 0" descr="/mnt/data/03_gpu_dyn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7473"/>
            <a:ext cx="5486400" cy="2992582"/>
          </a:xfrm>
          <a:prstGeom prst="rect">
            <a:avLst/>
          </a:prstGeom>
        </p:spPr>
      </p:pic>
      <p:pic>
        <p:nvPicPr>
          <p:cNvPr id="5" name="Image 1" descr="/mnt/data/07_gpu_per_custo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262288"/>
            <a:ext cx="5212080" cy="2842953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58952" y="4572000"/>
            <a:ext cx="5303520" cy="685800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05256" y="4681728"/>
            <a:ext cx="501091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The aggregate jump begins after the Oct-2025 product migration and is affected by Mar-2026 capacity constraints.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6355080" y="4572000"/>
            <a:ext cx="5212080" cy="685800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01384" y="4681728"/>
            <a:ext cx="491947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Customer-level view shows concentration and outliers. This is why naive extrapolation overstates GPU growth.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and egress: smooth expansion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Stable contributors with lower volatility than GPU</a:t>
            </a:r>
            <a:endParaRPr lang="en-US" sz="980" dirty="0"/>
          </a:p>
        </p:txBody>
      </p:sp>
      <p:pic>
        <p:nvPicPr>
          <p:cNvPr id="4" name="Image 0" descr="/mnt/data/04_egress_storage_dyn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30036"/>
            <a:ext cx="7360920" cy="40150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1040" y="1572768"/>
            <a:ext cx="31546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• object_storage and network_egress both grow steadily</a:t>
            </a:r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• no abrupt breaks similar to GPU migration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• good candidates for product-level trend extrapolation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111827"/>
                </a:solidFill>
              </a:rPr>
              <a:t>• object_storage price change applies broadly from Jan-2026</a:t>
            </a:r>
            <a:endParaRPr lang="en-US" sz="1240" dirty="0"/>
          </a:p>
        </p:txBody>
      </p:sp>
      <p:sp>
        <p:nvSpPr>
          <p:cNvPr id="6" name="Shape 3"/>
          <p:cNvSpPr/>
          <p:nvPr/>
        </p:nvSpPr>
        <p:spPr>
          <a:xfrm>
            <a:off x="8229600" y="4892040"/>
            <a:ext cx="3337560" cy="658368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75904" y="5001768"/>
            <a:ext cx="3044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Forecast treatment: product-level coefficients are appropriate for most customers.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7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adoption: most active customers use all four products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Useful for checking whether missing product usage is normal or anomalous</a:t>
            </a:r>
            <a:endParaRPr lang="en-US" sz="980" dirty="0"/>
          </a:p>
        </p:txBody>
      </p:sp>
      <p:pic>
        <p:nvPicPr>
          <p:cNvPr id="4" name="Image 0" descr="/mnt/data/05_customers_by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09007"/>
            <a:ext cx="6903720" cy="37656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09560" y="155448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• most customers use all 4 products</a:t>
            </a:r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• a small group uses only 3 of 4, usually missing GPU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• customer count grows until mid-2025, then dips and recovers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111827"/>
                </a:solidFill>
              </a:rPr>
              <a:t>• forecast should not revive product usage for customers without May activity</a:t>
            </a:r>
            <a:endParaRPr lang="en-US" sz="1230" dirty="0"/>
          </a:p>
        </p:txBody>
      </p:sp>
      <p:sp>
        <p:nvSpPr>
          <p:cNvPr id="6" name="Text 3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8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few partners dominate usage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Concentration motivates customer-specific handling for the largest accounts</a:t>
            </a:r>
            <a:endParaRPr lang="en-US" sz="980" dirty="0"/>
          </a:p>
        </p:txBody>
      </p:sp>
      <p:pic>
        <p:nvPicPr>
          <p:cNvPr id="4" name="Image 0" descr="/mnt/data/06_compute_per_custo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3718"/>
            <a:ext cx="5440680" cy="2967644"/>
          </a:xfrm>
          <a:prstGeom prst="rect">
            <a:avLst/>
          </a:prstGeom>
        </p:spPr>
      </p:pic>
      <p:pic>
        <p:nvPicPr>
          <p:cNvPr id="5" name="Image 1" descr="/mnt/data/07_gpu_per_custom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3718"/>
            <a:ext cx="5440680" cy="29676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7240" y="5513832"/>
            <a:ext cx="10561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11827"/>
                </a:solidFill>
              </a:rPr>
              <a:t>• large partners should not be treated as small noisy accounts</a:t>
            </a:r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11827"/>
                </a:solidFill>
              </a:rPr>
              <a:t>• selected large accounts use customer-level coefficients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111827"/>
                </a:solidFill>
              </a:rPr>
              <a:t>• remaining base uses product-level coefficients to reduce volatility</a:t>
            </a:r>
            <a:endParaRPr lang="en-US" sz="1170" dirty="0"/>
          </a:p>
        </p:txBody>
      </p:sp>
      <p:sp>
        <p:nvSpPr>
          <p:cNvPr id="7" name="Text 3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9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status: primary churn signal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Status is used to define the active organic customer base</a:t>
            </a:r>
            <a:endParaRPr lang="en-US" sz="98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25296"/>
          <a:ext cx="10991088" cy="3913632"/>
        </p:xfrm>
        <a:graphic>
          <a:graphicData uri="http://schemas.openxmlformats.org/drawingml/2006/table">
            <a:tbl>
              <a:tblPr/>
              <a:tblGrid>
                <a:gridCol w="1828800"/>
                <a:gridCol w="2057400"/>
                <a:gridCol w="1234440"/>
                <a:gridCol w="587044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Last usage month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Customers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Forecast treatment</a:t>
                      </a:r>
                      <a:endParaRPr lang="en-US" sz="11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2026-05-01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organic forecast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churned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2025-10-01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Excluded from organic forecast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churned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2026-01-01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Excluded from organic forecast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churned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2026-02-01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Excluded from organic forecast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churned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2026-05-01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Contributes to May actuals, not to forward organic base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paused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2026-01-01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Excluded from organic forecast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5513832"/>
            <a:ext cx="10789920" cy="612648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" y="5623560"/>
            <a:ext cx="104973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Important nuance: status is the primary signal, not a perfect truth source. The 4 churned customers with May usage should be validated, but are excluded from forward organic forecast in the current model.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10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CRM ambiguity: Vertex Labs overlapping opportunities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Current model uses scenario-based handling rather than adding all records</a:t>
            </a:r>
            <a:endParaRPr lang="en-US" sz="98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34440"/>
          <a:ext cx="11064240" cy="2514600"/>
        </p:xfrm>
        <a:graphic>
          <a:graphicData uri="http://schemas.openxmlformats.org/drawingml/2006/table">
            <a:tbl>
              <a:tblPr/>
              <a:tblGrid>
                <a:gridCol w="1417320"/>
                <a:gridCol w="1280160"/>
                <a:gridCol w="1325880"/>
                <a:gridCol w="164592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Committed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treatment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OPP-1035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Commit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$410K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$8.2M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added separately to avoid double counting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OPP-1036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Commit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$230K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$4.6M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Base as selected compute component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OPP-1037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Commit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$690K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$13.8M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Included in Upside as full umbrella agreement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4160520"/>
            <a:ext cx="10561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410K + 230K = 640K, while umbrella record is 690K: related but not a clean sum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Base and Upside intentionally encode different deal-scope assumptions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• Sales validation is required before treating the full umbrella as committed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5800" y="5513832"/>
            <a:ext cx="10789920" cy="594360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" y="5623560"/>
            <a:ext cx="1049731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Forecast rule: Downside includes OPP-1039 only; Base includes OPP-1039 + OPP-1036; Upside includes OPP-1039 + OPP-1037.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11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Invoices feed the cash forecast, not consumption volume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Cash model is built point-in-time as of 2026-06-06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55321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issued and unpaid invoices reconstruct existing AR as of the forecast date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near-term AR is scheduled using due date + 7 days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overdue AR is handled with aging recovery assumptions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future postpaid usage uses historical payment timing among paid invoices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• void_pending and test invoice risk are excluded from cash basis where applicable</a:t>
            </a:r>
            <a:endParaRPr lang="en-US" sz="1300" dirty="0"/>
          </a:p>
        </p:txBody>
      </p:sp>
      <p:pic>
        <p:nvPicPr>
          <p:cNvPr id="5" name="Image 0" descr="/mnt/data/04_egress_storage_dynam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346662"/>
            <a:ext cx="5120640" cy="27930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5074920"/>
            <a:ext cx="10835640" cy="749808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" y="518464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Data implication: consumption forecast starts from usage; cash forecast starts from invoices, AR state, payment lag, and opportunity prepayments.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12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 for the forecast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5B6472"/>
                </a:solidFill>
              </a:rPr>
              <a:t>How the data research maps into the final model</a:t>
            </a:r>
            <a:endParaRPr lang="en-US" sz="98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170432"/>
          <a:ext cx="11018520" cy="4389120"/>
        </p:xfrm>
        <a:graphic>
          <a:graphicData uri="http://schemas.openxmlformats.org/drawingml/2006/table">
            <a:tbl>
              <a:tblPr/>
              <a:tblGrid>
                <a:gridCol w="3977640"/>
                <a:gridCol w="7040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Finding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Forecast implication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9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monthly_usage is the cleanest consumption source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it as the basis for organic consumption forecast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customers dominate product usage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selected large customers individually; use product-level trend for others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GPU growth is concentrated and recent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 coefficients and avoid naive customer-level extrapolation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billing_customers status is the primary churn signal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customers form the organic base; churned/paused are excluded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CRM contains overlapping Vertex records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 scenario-based treatment and validate deal structure with Sales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invoices reflect cash timing and AR state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dirty="0">
                          <a:solidFill>
                            <a:srgbClr val="11182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Separate consumption forecast from cash collections forecast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 anchor="mid">
                    <a:lnL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85800" y="5742432"/>
            <a:ext cx="10789920" cy="438912"/>
          </a:xfrm>
          <a:prstGeom prst="rect">
            <a:avLst/>
          </a:prstGeom>
          <a:solidFill>
            <a:srgbClr val="EAF1FB"/>
          </a:solidFill>
          <a:ln w="9525">
            <a:solidFill>
              <a:srgbClr val="C7D2E7">
                <a:alpha val="8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2104" y="5852160"/>
            <a:ext cx="10497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6345F"/>
                </a:solidFill>
              </a:rPr>
              <a:t>Open questions: validate Vertex structure with Sales, confirm treatment of churned customers with May usage, and review large overdue receivables for cash planning.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02920" y="6556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7A8190"/>
                </a:solidFill>
              </a:rPr>
              <a:t>NimbusCompute data research · 13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NimbusCompute — Data Research</dc:title>
  <dc:subject>NimbusCompute Data Research</dc:subject>
  <dc:creator>OpenAI</dc:creator>
  <cp:lastModifiedBy>OpenAI</cp:lastModifiedBy>
  <cp:revision>1</cp:revision>
  <dcterms:created xsi:type="dcterms:W3CDTF">2026-06-29T22:32:01Z</dcterms:created>
  <dcterms:modified xsi:type="dcterms:W3CDTF">2026-06-29T22:32:01Z</dcterms:modified>
</cp:coreProperties>
</file>